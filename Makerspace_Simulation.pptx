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8"/>
  </p:notesMasterIdLst>
  <p:handoutMasterIdLst>
    <p:handoutMasterId r:id="rId19"/>
  </p:handoutMasterIdLst>
  <p:sldIdLst>
    <p:sldId id="312" r:id="rId5"/>
    <p:sldId id="304" r:id="rId6"/>
    <p:sldId id="307" r:id="rId7"/>
    <p:sldId id="281" r:id="rId8"/>
    <p:sldId id="282" r:id="rId9"/>
    <p:sldId id="314" r:id="rId10"/>
    <p:sldId id="315" r:id="rId11"/>
    <p:sldId id="317" r:id="rId12"/>
    <p:sldId id="318" r:id="rId13"/>
    <p:sldId id="319" r:id="rId14"/>
    <p:sldId id="321" r:id="rId15"/>
    <p:sldId id="322" r:id="rId16"/>
    <p:sldId id="297" r:id="rId17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0" autoAdjust="0"/>
    <p:restoredTop sz="95388" autoAdjust="0"/>
  </p:normalViewPr>
  <p:slideViewPr>
    <p:cSldViewPr snapToGrid="0" snapToObjects="1">
      <p:cViewPr varScale="1">
        <p:scale>
          <a:sx n="79" d="100"/>
          <a:sy n="79" d="100"/>
        </p:scale>
        <p:origin x="403" y="4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6670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4541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7668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881488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1307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dirty="0"/>
              <a:t>Makerspace Simulation</a:t>
            </a:r>
            <a:br>
              <a:rPr lang="en-US" dirty="0"/>
            </a:br>
            <a:r>
              <a:rPr lang="en-US" sz="1400" dirty="0"/>
              <a:t>Group 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6583680" cy="1531357"/>
          </a:xfrm>
        </p:spPr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834640"/>
            <a:ext cx="6583680" cy="3207344"/>
          </a:xfrm>
        </p:spPr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EDA75-0988-2AC2-87F8-8DEC83A7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02441" y="1061623"/>
            <a:ext cx="5723586" cy="4739104"/>
          </a:xfrm>
        </p:spPr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7" name="Picture Placeholder 6" descr="A person standing in front of a whiteboard">
            <a:extLst>
              <a:ext uri="{FF2B5EF4-FFF2-40B4-BE49-F238E27FC236}">
                <a16:creationId xmlns:a16="http://schemas.microsoft.com/office/drawing/2014/main" id="{DD186EAB-37C7-E7E6-AE8D-F077D02804F9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27208" r="27208"/>
          <a:stretch/>
        </p:blipFill>
        <p:spPr>
          <a:xfrm>
            <a:off x="443345" y="0"/>
            <a:ext cx="4344695" cy="6359525"/>
          </a:xfr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3B219B-7E3A-7E84-6386-37313F0CFB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5"/>
            <a:ext cx="5259554" cy="2495028"/>
          </a:xfrm>
        </p:spPr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808750"/>
            <a:ext cx="5259554" cy="2233233"/>
          </a:xfrm>
        </p:spPr>
        <p:txBody>
          <a:bodyPr/>
          <a:lstStyle/>
          <a:p>
            <a:r>
              <a:rPr lang="en-US" dirty="0"/>
              <a:t>Confidence-building strategies</a:t>
            </a:r>
          </a:p>
        </p:txBody>
      </p:sp>
      <p:pic>
        <p:nvPicPr>
          <p:cNvPr id="6" name="Picture Placeholder 5" descr="A person holding a microphone and standing in front of a group of people">
            <a:extLst>
              <a:ext uri="{FF2B5EF4-FFF2-40B4-BE49-F238E27FC236}">
                <a16:creationId xmlns:a16="http://schemas.microsoft.com/office/drawing/2014/main" id="{FECDA901-DD88-89EB-E10E-A2994D0A92DB}"/>
              </a:ext>
            </a:extLst>
          </p:cNvPr>
          <p:cNvPicPr>
            <a:picLocks noGrp="1" noChangeAspect="1"/>
          </p:cNvPicPr>
          <p:nvPr>
            <p:ph type="pic" sz="quarter" idx="11"/>
          </p:nvPr>
        </p:nvPicPr>
        <p:blipFill rotWithShape="1"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 l="27745" r="27745"/>
          <a:stretch/>
        </p:blipFill>
        <p:spPr>
          <a:xfrm>
            <a:off x="7414194" y="410780"/>
            <a:ext cx="4344695" cy="6447220"/>
          </a:xfrm>
        </p:spPr>
      </p:pic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3497698"/>
          </a:xfrm>
        </p:spPr>
        <p:txBody>
          <a:bodyPr/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4FF72B7-0438-3641-5939-75128934B0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10199-C129-11F0-56F2-2D1AED21C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64809" y="1057274"/>
            <a:ext cx="7043617" cy="2520217"/>
          </a:xfrm>
        </p:spPr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0AEC4F-E711-8552-9C34-82C1514A1E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DD6BDC-E008-6AB7-55A1-46ED9BCF05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4364808" y="3808750"/>
            <a:ext cx="7043618" cy="2233233"/>
          </a:xfrm>
        </p:spPr>
        <p:txBody>
          <a:bodyPr/>
          <a:lstStyle/>
          <a:p>
            <a:r>
              <a:rPr lang="en-US" dirty="0"/>
              <a:t>Enhancing your presentation</a:t>
            </a:r>
          </a:p>
        </p:txBody>
      </p:sp>
    </p:spTree>
    <p:extLst>
      <p:ext uri="{BB962C8B-B14F-4D97-AF65-F5344CB8AC3E}">
        <p14:creationId xmlns:p14="http://schemas.microsoft.com/office/powerpoint/2010/main" val="11317180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5"/>
            <a:ext cx="7796464" cy="1222385"/>
          </a:xfrm>
        </p:spPr>
        <p:txBody>
          <a:bodyPr/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267C004-8B72-C872-98FB-00A2A584D05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720337"/>
          </a:xfrm>
        </p:spPr>
        <p:txBody>
          <a:bodyPr>
            <a:normAutofit/>
          </a:bodyPr>
          <a:lstStyle/>
          <a:p>
            <a:r>
              <a:rPr lang="en-US" dirty="0"/>
              <a:t>This is a powerful tool in public speaking. It involves varying pitch, tone, and volume to convey emotion, emphasize points, and maintain interest. 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1091627"/>
          </a:xfrm>
        </p:spPr>
        <p:txBody>
          <a:bodyPr/>
          <a:lstStyle/>
          <a:p>
            <a:r>
              <a:rPr lang="en-US" dirty="0"/>
              <a:t>Navigating Q&amp;A </a:t>
            </a:r>
            <a:br>
              <a:rPr lang="en-US" dirty="0"/>
            </a:br>
            <a:r>
              <a:rPr lang="en-US" dirty="0"/>
              <a:t>sessions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" y="2303463"/>
            <a:ext cx="3282950" cy="4143375"/>
          </a:xfrm>
        </p:spPr>
        <p:txBody>
          <a:bodyPr>
            <a:normAutofit/>
          </a:bodyPr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r>
              <a:rPr lang="en-US" dirty="0"/>
              <a:t>Stay calm</a:t>
            </a:r>
          </a:p>
          <a:p>
            <a:r>
              <a:rPr lang="en-US" dirty="0"/>
              <a:t>Actively listen</a:t>
            </a:r>
          </a:p>
          <a:p>
            <a:r>
              <a:rPr lang="en-US" dirty="0"/>
              <a:t>Pause and reflect</a:t>
            </a:r>
          </a:p>
          <a:p>
            <a:r>
              <a:rPr lang="en-US" dirty="0"/>
              <a:t>Maintain eye contact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58AC0C8B-8A7A-9FAE-2D0F-4D1C3A8C3F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781550" y="2303463"/>
            <a:ext cx="3763963" cy="4143375"/>
          </a:xfrm>
        </p:spPr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pic>
        <p:nvPicPr>
          <p:cNvPr id="10" name="Picture Placeholder 9" descr="A person wearing a blue suit and headphones pointing at a computer">
            <a:extLst>
              <a:ext uri="{FF2B5EF4-FFF2-40B4-BE49-F238E27FC236}">
                <a16:creationId xmlns:a16="http://schemas.microsoft.com/office/drawing/2014/main" id="{DD0A0899-5B02-CEB5-E5DD-448B169C2377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rcRect l="31888" r="31888"/>
          <a:stretch/>
        </p:blipFill>
        <p:spPr>
          <a:xfrm>
            <a:off x="8989454" y="965393"/>
            <a:ext cx="3202545" cy="58926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CE1B8-1C92-D6D2-444B-652DB90E86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914400" y="2331791"/>
            <a:ext cx="6903076" cy="3721817"/>
          </a:xfrm>
        </p:spPr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endParaRPr lang="en-US" dirty="0"/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7" name="Picture Placeholder 6" descr="A person wearing glasses and a blue shirt">
            <a:extLst>
              <a:ext uri="{FF2B5EF4-FFF2-40B4-BE49-F238E27FC236}">
                <a16:creationId xmlns:a16="http://schemas.microsoft.com/office/drawing/2014/main" id="{C570EB79-053B-0283-9D2D-6266701EEDDD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 rotWithShape="1">
          <a:blip r:embed="rId3">
            <a:duotone>
              <a:prstClr val="black"/>
              <a:schemeClr val="accent4">
                <a:tint val="45000"/>
                <a:satMod val="400000"/>
              </a:schemeClr>
            </a:duotone>
          </a:blip>
          <a:srcRect l="19088" r="19088"/>
          <a:stretch/>
        </p:blipFill>
        <p:spPr>
          <a:xfrm>
            <a:off x="8989454" y="3405189"/>
            <a:ext cx="3202546" cy="3452811"/>
          </a:xfr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B69D854-FB65-0E93-CFE2-041F7C41DD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2101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Dynamic delivery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133818870"/>
              </p:ext>
            </p:extLst>
          </p:nvPr>
        </p:nvGraphicFramePr>
        <p:xfrm>
          <a:off x="5087938" y="2332038"/>
          <a:ext cx="6345236" cy="3879279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22740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643498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606129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811265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Rate of information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accent6"/>
                          </a:solidFill>
                        </a:rPr>
                        <a:t>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3EEC9-16E3-6C86-97D0-A7EC7EA09C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8D62608-F5E4-7EC0-5EF0-4F988DDDE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4" y="1057274"/>
            <a:ext cx="9875463" cy="999746"/>
          </a:xfrm>
        </p:spPr>
        <p:txBody>
          <a:bodyPr/>
          <a:lstStyle/>
          <a:p>
            <a:r>
              <a:rPr lang="en-US" dirty="0"/>
              <a:t>Final tips &amp; takeaways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288BD9B8-D6A6-D55A-830D-4D3CC2DC39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50564" y="2303028"/>
            <a:ext cx="5829147" cy="3961593"/>
          </a:xfrm>
        </p:spPr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Strengthen your familiarity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0853098E-C088-D323-4BF2-987893F262F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940842" y="2303028"/>
            <a:ext cx="3485184" cy="3961593"/>
          </a:xfrm>
        </p:spPr>
        <p:txBody>
          <a:bodyPr/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CFAD14-1AAA-8CDA-A49B-523FD6C66F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021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0A324-0737-F0DA-1F7D-10CBE06D7C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57274"/>
            <a:ext cx="10511627" cy="1012785"/>
          </a:xfrm>
        </p:spPr>
        <p:txBody>
          <a:bodyPr/>
          <a:lstStyle/>
          <a:p>
            <a:r>
              <a:rPr lang="en-US" dirty="0"/>
              <a:t>Speaking engagement metrics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C0C7FF8-9CAF-6C67-C1E5-AF40401D0B3D}"/>
              </a:ext>
            </a:extLst>
          </p:cNvPr>
          <p:cNvGraphicFramePr>
            <a:graphicFrameLocks noGrp="1"/>
          </p:cNvGraphicFramePr>
          <p:nvPr>
            <p:ph sz="quarter" idx="4"/>
            <p:extLst>
              <p:ext uri="{D42A27DB-BD31-4B8C-83A1-F6EECF244321}">
                <p14:modId xmlns:p14="http://schemas.microsoft.com/office/powerpoint/2010/main" val="3999503228"/>
              </p:ext>
            </p:extLst>
          </p:nvPr>
        </p:nvGraphicFramePr>
        <p:xfrm>
          <a:off x="914400" y="2316163"/>
          <a:ext cx="10510836" cy="3948462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4080076">
                  <a:extLst>
                    <a:ext uri="{9D8B030D-6E8A-4147-A177-3AD203B41FA5}">
                      <a16:colId xmlns:a16="http://schemas.microsoft.com/office/drawing/2014/main" val="1764027237"/>
                    </a:ext>
                  </a:extLst>
                </a:gridCol>
                <a:gridCol w="4080076">
                  <a:extLst>
                    <a:ext uri="{9D8B030D-6E8A-4147-A177-3AD203B41FA5}">
                      <a16:colId xmlns:a16="http://schemas.microsoft.com/office/drawing/2014/main" val="77891454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4233386372"/>
                    </a:ext>
                  </a:extLst>
                </a:gridCol>
                <a:gridCol w="1175342">
                  <a:extLst>
                    <a:ext uri="{9D8B030D-6E8A-4147-A177-3AD203B41FA5}">
                      <a16:colId xmlns:a16="http://schemas.microsoft.com/office/drawing/2014/main" val="1626524931"/>
                    </a:ext>
                  </a:extLst>
                </a:gridCol>
              </a:tblGrid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503321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379676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9202252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535648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22085491"/>
                  </a:ext>
                </a:extLst>
              </a:tr>
              <a:tr h="658077">
                <a:tc>
                  <a:txBody>
                    <a:bodyPr/>
                    <a:lstStyle/>
                    <a:p>
                      <a:r>
                        <a:rPr lang="en-US" dirty="0"/>
                        <a:t>Collaboration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# of opportunities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82318458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C21286A-7B29-3B58-1636-0F45723890A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/>
          <a:p>
            <a:fld id="{48F63A3B-78C7-47BE-AE5E-E10140E0464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6213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D22C5-0C9E-B582-A8FE-B45E70A01E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1" y="849782"/>
            <a:ext cx="5715000" cy="2727709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B5CEF2-E667-BBB5-2EA6-C06F93B6DE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1" y="3813606"/>
            <a:ext cx="5715000" cy="2234642"/>
          </a:xfrm>
        </p:spPr>
        <p:txBody>
          <a:bodyPr/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 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97317304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{EFCEB913-2984-406E-8D4F-ACEA8E272003}TF8a9b5915-b8c7-461e-8cdd-693d48b5e32371f7b7e2_win32-4bf0b9a2ea37</Template>
  <TotalTime>3</TotalTime>
  <Words>424</Words>
  <Application>Microsoft Office PowerPoint</Application>
  <PresentationFormat>Widescreen</PresentationFormat>
  <Paragraphs>120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Black</vt:lpstr>
      <vt:lpstr>Calibri</vt:lpstr>
      <vt:lpstr>Sabon Next LT</vt:lpstr>
      <vt:lpstr>Custom</vt:lpstr>
      <vt:lpstr>Makerspace Simulation Group 9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 sessions</vt:lpstr>
      <vt:lpstr>Speaking impact</vt:lpstr>
      <vt:lpstr>Dynamic delivery</vt:lpstr>
      <vt:lpstr>Final tips &amp; takeaways</vt:lpstr>
      <vt:lpstr>Speaking engagement metrics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Danell Serik</dc:creator>
  <cp:lastModifiedBy>Danell Serik</cp:lastModifiedBy>
  <cp:revision>1</cp:revision>
  <dcterms:created xsi:type="dcterms:W3CDTF">2025-11-18T04:22:47Z</dcterms:created>
  <dcterms:modified xsi:type="dcterms:W3CDTF">2025-11-18T04:26:16Z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